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F2FE"/>
                </a:solidFill>
                <a:latin typeface="Arial"/>
              </a:defRPr>
            </a:pPr>
            <a:r>
              <a:t>MOTOMOD AI</a:t>
            </a:r>
          </a:p>
          <a:p>
            <a:pPr>
              <a:defRPr sz="2000" b="1">
                <a:solidFill>
                  <a:srgbClr val="EEF2FF"/>
                </a:solidFill>
                <a:latin typeface="Arial"/>
              </a:defRPr>
            </a:pPr>
            <a:r>
              <a:t>AI-Powered Motorcycle Modification &amp; Performance Prediction Platform</a:t>
            </a:r>
          </a:p>
          <a:p>
            <a:pPr>
              <a:defRPr sz="1400">
                <a:solidFill>
                  <a:srgbClr val="6B7FA8"/>
                </a:solidFill>
                <a:latin typeface="Arial"/>
              </a:defRPr>
            </a:pPr>
            <a:r>
              <a:t>Department of Information Technology — Capstone Project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840480"/>
            <a:ext cx="10362895" cy="2103120"/>
          </a:xfrm>
          <a:prstGeom prst="roundRect">
            <a:avLst/>
          </a:prstGeom>
          <a:solidFill>
            <a:srgbClr val="0C1222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  <a:latin typeface="Arial"/>
              </a:defRPr>
            </a:pPr>
            <a:r>
              <a:t>PRESENTED BY:</a:t>
            </a:r>
          </a:p>
          <a:p>
            <a:pPr>
              <a:defRPr sz="1800" b="1">
                <a:solidFill>
                  <a:srgbClr val="EEF2FF"/>
                </a:solidFill>
                <a:latin typeface="Arial"/>
              </a:defRPr>
            </a:pPr>
            <a:r>
              <a:t>1. PREMKUMAR R  (Reg No: 24IT0119)</a:t>
            </a:r>
          </a:p>
          <a:p>
            <a:pPr>
              <a:defRPr sz="1800" b="1">
                <a:solidFill>
                  <a:srgbClr val="EEF2FF"/>
                </a:solidFill>
                <a:latin typeface="Arial"/>
              </a:defRPr>
            </a:pPr>
            <a:r>
              <a:t>2. NANDEESH Y G  (Reg No: 24IT0103)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F2FE"/>
                </a:solidFill>
                <a:latin typeface="Arial"/>
              </a:defRPr>
            </a:pPr>
            <a:r>
              <a:t>SLIDE 1: PROBLEM IDENTIFICATION &amp; TITLE IDENTIFICATION</a:t>
            </a:r>
          </a:p>
          <a:p>
            <a:pPr>
              <a:defRPr sz="1300">
                <a:solidFill>
                  <a:srgbClr val="6B7FA8"/>
                </a:solidFill>
                <a:latin typeface="Arial"/>
              </a:defRPr>
            </a:pPr>
            <a:r>
              <a:t>Defining the core engineering problem and system title for MotoMod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0C1222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F2FE"/>
                </a:solidFill>
              </a:defRPr>
            </a:pPr>
            <a:r>
              <a:t>📌 TITLE IDENTIFICATION</a:t>
            </a:r>
          </a:p>
          <a:p>
            <a:pPr>
              <a:defRPr sz="1300">
                <a:solidFill>
                  <a:srgbClr val="EEF2FF"/>
                </a:solidFill>
              </a:defRPr>
            </a:pPr>
            <a:r>
              <a:t>• Project Name: MotoMod AI (Motoventra)</a:t>
            </a:r>
          </a:p>
          <a:p>
            <a:pPr>
              <a:defRPr sz="1300">
                <a:solidFill>
                  <a:srgbClr val="EEF2FF"/>
                </a:solidFill>
              </a:defRPr>
            </a:pPr>
            <a:r>
              <a:t>• Domain: Automotive Informatics, Artificial Intelligence &amp; Full-Stack Web</a:t>
            </a:r>
          </a:p>
          <a:p>
            <a:pPr>
              <a:defRPr sz="1300">
                <a:solidFill>
                  <a:srgbClr val="EEF2FF"/>
                </a:solidFill>
              </a:defRPr>
            </a:pPr>
            <a:r>
              <a:t>• Core Innovation: ML-driven performance forecasting (BHP, Torque, Mileage, Top Speed) integrated with dynamic fitment verification</a:t>
            </a:r>
          </a:p>
          <a:p>
            <a:pPr>
              <a:defRPr sz="1300">
                <a:solidFill>
                  <a:srgbClr val="EEF2FF"/>
                </a:solidFill>
              </a:defRPr>
            </a:pPr>
            <a:r>
              <a:t>• Target Users: Motorcycle enthusiasts, tuners, workshops, and aftermarket retailers</a:t>
            </a:r>
          </a:p>
          <a:p>
            <a:pPr>
              <a:defRPr sz="1300">
                <a:solidFill>
                  <a:srgbClr val="EEF2FF"/>
                </a:solidFill>
              </a:defRPr>
            </a:pPr>
            <a:r>
              <a:t>• Tech Stack: FastAPI, Python ML (XGBoost/LightGBM), SQLite, Interactive HTML5/3D Visualizer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0C1222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9B51E0"/>
                </a:solidFill>
              </a:defRPr>
            </a:pPr>
            <a:r>
              <a:t>⚠️ PROBLEM IDENTIFICATION</a:t>
            </a:r>
          </a:p>
          <a:p>
            <a:pPr>
              <a:defRPr sz="1300">
                <a:solidFill>
                  <a:srgbClr val="EEF2FF"/>
                </a:solidFill>
              </a:defRPr>
            </a:pPr>
            <a:r>
              <a:t>1. Trial-and-Error Modifications: Riders install aftermarket parts without knowing real performance impacts or HP gains prior to purchase.</a:t>
            </a:r>
          </a:p>
          <a:p>
            <a:pPr>
              <a:defRPr sz="1300">
                <a:solidFill>
                  <a:srgbClr val="EEF2FF"/>
                </a:solidFill>
              </a:defRPr>
            </a:pPr>
            <a:r>
              <a:t>2. Severe Incompatibility Risks: Mismatched components lead to engine damage, voided warranties, and safety hazards.</a:t>
            </a:r>
          </a:p>
          <a:p>
            <a:pPr>
              <a:defRPr sz="1300">
                <a:solidFill>
                  <a:srgbClr val="EEF2FF"/>
                </a:solidFill>
              </a:defRPr>
            </a:pPr>
            <a:r>
              <a:t>3. Absence of Predictive Models: Traditional auto platforms only serve static part listings without dynamic performance forecasting.</a:t>
            </a:r>
          </a:p>
          <a:p>
            <a:pPr>
              <a:defRPr sz="1300">
                <a:solidFill>
                  <a:srgbClr val="EEF2FF"/>
                </a:solidFill>
              </a:defRPr>
            </a:pPr>
            <a:r>
              <a:t>4. Scattered Specifications: Vehicle specs, fitment matrices, and review ratings are fragmented across incompatible platforms.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F2FE"/>
                </a:solidFill>
                <a:latin typeface="Arial"/>
              </a:defRPr>
            </a:pPr>
            <a:r>
              <a:t>SLIDE 2: LITERATURE SURVEY</a:t>
            </a:r>
          </a:p>
          <a:p>
            <a:pPr>
              <a:defRPr sz="1300">
                <a:solidFill>
                  <a:srgbClr val="6B7FA8"/>
                </a:solidFill>
                <a:latin typeface="Arial"/>
              </a:defRPr>
            </a:pPr>
            <a:r>
              <a:t>Comparative analysis of existing automotive systems vs. Proposed MotoMod AI Platform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926080"/>
                <a:gridCol w="2743200"/>
              </a:tblGrid>
              <a:tr h="11887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EF2FF"/>
                          </a:solidFill>
                        </a:defRPr>
                      </a:pPr>
                      <a:r>
                        <a:t>System / Approach</a:t>
                      </a:r>
                    </a:p>
                  </a:txBody>
                  <a:tcPr>
                    <a:solidFill>
                      <a:srgbClr val="9B51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EF2FF"/>
                          </a:solidFill>
                        </a:defRPr>
                      </a:pPr>
                      <a:r>
                        <a:t>Primary Focus &amp; Features</a:t>
                      </a:r>
                    </a:p>
                  </a:txBody>
                  <a:tcPr>
                    <a:solidFill>
                      <a:srgbClr val="9B51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EF2FF"/>
                          </a:solidFill>
                        </a:defRPr>
                      </a:pPr>
                      <a:r>
                        <a:t>Existing Limitations</a:t>
                      </a:r>
                    </a:p>
                  </a:txBody>
                  <a:tcPr>
                    <a:solidFill>
                      <a:srgbClr val="9B51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EF2FF"/>
                          </a:solidFill>
                        </a:defRPr>
                      </a:pPr>
                      <a:r>
                        <a:t>MotoMod AI Solution</a:t>
                      </a:r>
                    </a:p>
                  </a:txBody>
                  <a:tcPr>
                    <a:solidFill>
                      <a:srgbClr val="9B51E0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EF2FF"/>
                          </a:solidFill>
                        </a:defRPr>
                      </a:pPr>
                      <a:r>
                        <a:t>Traditional Auto E-Commerce (RevZilla, BikeWale)</a:t>
                      </a:r>
                    </a:p>
                  </a:txBody>
                  <a:tcPr>
                    <a:solidFill>
                      <a:srgbClr val="0C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EF2FF"/>
                          </a:solidFill>
                        </a:defRPr>
                      </a:pPr>
                      <a:r>
                        <a:t>Static part catalogs with simple dropdown filters by make and model.</a:t>
                      </a:r>
                    </a:p>
                  </a:txBody>
                  <a:tcPr>
                    <a:solidFill>
                      <a:srgbClr val="0C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EF2FF"/>
                          </a:solidFill>
                        </a:defRPr>
                      </a:pPr>
                      <a:r>
                        <a:t>No performance prediction algorithms, no 3D visualization, no dynamic fitment scoring.</a:t>
                      </a:r>
                    </a:p>
                  </a:txBody>
                  <a:tcPr>
                    <a:solidFill>
                      <a:srgbClr val="0C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F2FE"/>
                          </a:solidFill>
                        </a:defRPr>
                      </a:pPr>
                      <a:r>
                        <a:t>ML Ensemble prediction of HP, Torque, Mileage &amp; Top Speed.</a:t>
                      </a:r>
                    </a:p>
                  </a:txBody>
                  <a:tcPr>
                    <a:solidFill>
                      <a:srgbClr val="0C1222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EF2FF"/>
                          </a:solidFill>
                        </a:defRPr>
                      </a:pPr>
                      <a:r>
                        <a:t>Generic Tuning Calculators</a:t>
                      </a:r>
                    </a:p>
                  </a:txBody>
                  <a:tcPr>
                    <a:solidFill>
                      <a:srgbClr val="0C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EF2FF"/>
                          </a:solidFill>
                        </a:defRPr>
                      </a:pPr>
                      <a:r>
                        <a:t>Basic mathematical formulas for gear ratio and displacement math.</a:t>
                      </a:r>
                    </a:p>
                  </a:txBody>
                  <a:tcPr>
                    <a:solidFill>
                      <a:srgbClr val="0C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EF2FF"/>
                          </a:solidFill>
                        </a:defRPr>
                      </a:pPr>
                      <a:r>
                        <a:t>Lacks real vehicle dataset integration, no ML models, no aftermarket part database.</a:t>
                      </a:r>
                    </a:p>
                  </a:txBody>
                  <a:tcPr>
                    <a:solidFill>
                      <a:srgbClr val="0C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F2FE"/>
                          </a:solidFill>
                        </a:defRPr>
                      </a:pPr>
                      <a:r>
                        <a:t>Integrated dataset of 262+ bike models across 46 brands with OEM specs.</a:t>
                      </a:r>
                    </a:p>
                  </a:txBody>
                  <a:tcPr>
                    <a:solidFill>
                      <a:srgbClr val="0C1222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EF2FF"/>
                          </a:solidFill>
                        </a:defRPr>
                      </a:pPr>
                      <a:r>
                        <a:t>Manual Workshop Diagnostics</a:t>
                      </a:r>
                    </a:p>
                  </a:txBody>
                  <a:tcPr>
                    <a:solidFill>
                      <a:srgbClr val="0C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EF2FF"/>
                          </a:solidFill>
                        </a:defRPr>
                      </a:pPr>
                      <a:r>
                        <a:t>Physical dyno testing and manual trial-and-error fitment check.</a:t>
                      </a:r>
                    </a:p>
                  </a:txBody>
                  <a:tcPr>
                    <a:solidFill>
                      <a:srgbClr val="0C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EF2FF"/>
                          </a:solidFill>
                        </a:defRPr>
                      </a:pPr>
                      <a:r>
                        <a:t>High cost, time-consuming, potential risk of mechanical component failure.</a:t>
                      </a:r>
                    </a:p>
                  </a:txBody>
                  <a:tcPr>
                    <a:solidFill>
                      <a:srgbClr val="0C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F2FE"/>
                          </a:solidFill>
                        </a:defRPr>
                      </a:pPr>
                      <a:r>
                        <a:t>Instant AI simulation, verified compatibility matrix, and UPI payment checkout.</a:t>
                      </a:r>
                    </a:p>
                  </a:txBody>
                  <a:tcPr>
                    <a:solidFill>
                      <a:srgbClr val="0C12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F2FE"/>
                </a:solidFill>
                <a:latin typeface="Arial"/>
              </a:defRPr>
            </a:pPr>
            <a:r>
              <a:t>SLIDE 3: OBJECTIVES OF PROJECT</a:t>
            </a:r>
          </a:p>
          <a:p>
            <a:pPr>
              <a:defRPr sz="1300">
                <a:solidFill>
                  <a:srgbClr val="6B7FA8"/>
                </a:solidFill>
                <a:latin typeface="Arial"/>
              </a:defRPr>
            </a:pPr>
            <a:r>
              <a:t>Core goals and technical milestones of the MotoMod AI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1371600"/>
          </a:xfrm>
          <a:prstGeom prst="roundRect">
            <a:avLst/>
          </a:prstGeom>
          <a:solidFill>
            <a:srgbClr val="0C1222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🎯 Primary Goal</a:t>
            </a:r>
          </a:p>
          <a:p>
            <a:pPr>
              <a:defRPr sz="1200">
                <a:solidFill>
                  <a:srgbClr val="EEF2FF"/>
                </a:solidFill>
              </a:defRPr>
            </a:pPr>
            <a:r>
              <a:t>To build an AI-powered motorcycle modification &amp; performance prediction ecosystem with real-time fitment verification.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54480"/>
            <a:ext cx="5120640" cy="1371600"/>
          </a:xfrm>
          <a:prstGeom prst="roundRect">
            <a:avLst/>
          </a:prstGeom>
          <a:solidFill>
            <a:srgbClr val="0C1222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EF2FF"/>
                </a:solidFill>
              </a:defRPr>
            </a:pPr>
            <a:r>
              <a:t>🤖 1. AI Performance Forecasting</a:t>
            </a:r>
          </a:p>
          <a:p>
            <a:pPr>
              <a:defRPr sz="1200">
                <a:solidFill>
                  <a:srgbClr val="EEF2FF"/>
                </a:solidFill>
              </a:defRPr>
            </a:pPr>
            <a:r>
              <a:t>Develop ML models (XGBoost/LightGBM) to accurately predict HP gains (+/- 0.8 BHP precision), Torque shifts, Mileage, and Top Speed offsets.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5120640" cy="1371600"/>
          </a:xfrm>
          <a:prstGeom prst="roundRect">
            <a:avLst/>
          </a:prstGeom>
          <a:solidFill>
            <a:srgbClr val="0C1222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EF2FF"/>
                </a:solidFill>
              </a:defRPr>
            </a:pPr>
            <a:r>
              <a:t>🏍️ 2. Comprehensive Motorcycle Catalog</a:t>
            </a:r>
          </a:p>
          <a:p>
            <a:pPr>
              <a:defRPr sz="1200">
                <a:solidFill>
                  <a:srgbClr val="EEF2FF"/>
                </a:solidFill>
              </a:defRPr>
            </a:pPr>
            <a:r>
              <a:t>Construct a structured database covering 262+ motorcycle variants across 46 global brands with complete technical specs.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108960"/>
            <a:ext cx="5120640" cy="1371600"/>
          </a:xfrm>
          <a:prstGeom prst="roundRect">
            <a:avLst/>
          </a:prstGeom>
          <a:solidFill>
            <a:srgbClr val="0C1222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EF2FF"/>
                </a:solidFill>
              </a:defRPr>
            </a:pPr>
            <a:r>
              <a:t>🔍 3. Automated Fitment Matching</a:t>
            </a:r>
          </a:p>
          <a:p>
            <a:pPr>
              <a:defRPr sz="1200">
                <a:solidFill>
                  <a:srgbClr val="EEF2FF"/>
                </a:solidFill>
              </a:defRPr>
            </a:pPr>
            <a:r>
              <a:t>Engineered direct and universal compatibility logic to strictly eliminate part incompatibility risks.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5120640" cy="1371600"/>
          </a:xfrm>
          <a:prstGeom prst="roundRect">
            <a:avLst/>
          </a:prstGeom>
          <a:solidFill>
            <a:srgbClr val="0C1222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EF2FF"/>
                </a:solidFill>
              </a:defRPr>
            </a:pPr>
            <a:r>
              <a:t>📸 4. 3D &amp; 360° Visualizer</a:t>
            </a:r>
          </a:p>
          <a:p>
            <a:pPr>
              <a:defRPr sz="1200">
                <a:solidFill>
                  <a:srgbClr val="EEF2FF"/>
                </a:solidFill>
              </a:defRPr>
            </a:pPr>
            <a:r>
              <a:t>Incorporate interactive 3D model viewer and multi-angle dataset images for realistic component inspection.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663440"/>
            <a:ext cx="5120640" cy="1371600"/>
          </a:xfrm>
          <a:prstGeom prst="roundRect">
            <a:avLst/>
          </a:prstGeom>
          <a:solidFill>
            <a:srgbClr val="0C122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💳 5. UPI QR Payment &amp; Checkout</a:t>
            </a:r>
          </a:p>
          <a:p>
            <a:pPr>
              <a:defRPr sz="1200">
                <a:solidFill>
                  <a:srgbClr val="EEF2FF"/>
                </a:solidFill>
              </a:defRPr>
            </a:pPr>
            <a:r>
              <a:t>Build an integrated checkout workflow featuring instant scannable UPI QR codes and bank reference verification.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F2FE"/>
                </a:solidFill>
                <a:latin typeface="Arial"/>
              </a:defRPr>
            </a:pPr>
            <a:r>
              <a:t>SLIDE 4: PROJECT PLANNING AND TIME SCHEDULE (12 WEEKS)</a:t>
            </a:r>
          </a:p>
          <a:p>
            <a:pPr>
              <a:defRPr sz="1300">
                <a:solidFill>
                  <a:srgbClr val="6B7FA8"/>
                </a:solidFill>
                <a:latin typeface="Arial"/>
              </a:defRPr>
            </a:pPr>
            <a:r>
              <a:t>12-Week Gantt Chart Breakdown of Implementation Phases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194560" cy="640080"/>
          </a:xfrm>
          <a:prstGeom prst="roundRect">
            <a:avLst/>
          </a:prstGeom>
          <a:solidFill>
            <a:srgbClr val="0C1222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9B51E0"/>
                </a:solidFill>
              </a:defRPr>
            </a:pPr>
            <a:r>
              <a:t>Weeks 1 - 2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554480"/>
            <a:ext cx="8321040" cy="640080"/>
          </a:xfrm>
          <a:prstGeom prst="roundRect">
            <a:avLst/>
          </a:prstGeom>
          <a:solidFill>
            <a:srgbClr val="0C1222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EEF2FF"/>
                </a:solidFill>
              </a:defRPr>
            </a:pPr>
            <a:r>
              <a:t>Problem Identification, Literature Survey &amp; Documentation (PRD / SRS)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2194560" cy="640080"/>
          </a:xfrm>
          <a:prstGeom prst="roundRect">
            <a:avLst/>
          </a:prstGeom>
          <a:solidFill>
            <a:srgbClr val="0C1222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F2FE"/>
                </a:solidFill>
              </a:defRPr>
            </a:pPr>
            <a:r>
              <a:t>Weeks 3 - 4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2331720"/>
            <a:ext cx="8321040" cy="640080"/>
          </a:xfrm>
          <a:prstGeom prst="roundRect">
            <a:avLst/>
          </a:prstGeom>
          <a:solidFill>
            <a:srgbClr val="0C1222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EEF2FF"/>
                </a:solidFill>
              </a:defRPr>
            </a:pPr>
            <a:r>
              <a:t>Database Schema Design &amp; Data Collection (262 Bikes, 46 Brands, Mod Parts)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2194560" cy="640080"/>
          </a:xfrm>
          <a:prstGeom prst="roundRect">
            <a:avLst/>
          </a:prstGeom>
          <a:solidFill>
            <a:srgbClr val="0C122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Weeks 5 - 6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3108960"/>
            <a:ext cx="8321040" cy="640080"/>
          </a:xfrm>
          <a:prstGeom prst="roundRect">
            <a:avLst/>
          </a:prstGeom>
          <a:solidFill>
            <a:srgbClr val="0C122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EEF2FF"/>
                </a:solidFill>
              </a:defRPr>
            </a:pPr>
            <a:r>
              <a:t>Machine Learning Model Development &amp; Training (XGBoost / LightGBM)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2194560" cy="640080"/>
          </a:xfrm>
          <a:prstGeom prst="roundRect">
            <a:avLst/>
          </a:prstGeom>
          <a:solidFill>
            <a:srgbClr val="0C1222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Weeks 7 - 8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3886200"/>
            <a:ext cx="8321040" cy="640080"/>
          </a:xfrm>
          <a:prstGeom prst="roundRect">
            <a:avLst/>
          </a:prstGeom>
          <a:solidFill>
            <a:srgbClr val="0C1222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EEF2FF"/>
                </a:solidFill>
              </a:defRPr>
            </a:pPr>
            <a:r>
              <a:t>FastAPI Backend Architecture, Async Endpoints &amp; Auth Implementation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2194560" cy="640080"/>
          </a:xfrm>
          <a:prstGeom prst="roundRect">
            <a:avLst/>
          </a:prstGeom>
          <a:solidFill>
            <a:srgbClr val="0C1222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F2FE"/>
                </a:solidFill>
              </a:defRPr>
            </a:pPr>
            <a:r>
              <a:t>Weeks 9 - 10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4663440"/>
            <a:ext cx="8321040" cy="640080"/>
          </a:xfrm>
          <a:prstGeom prst="roundRect">
            <a:avLst/>
          </a:prstGeom>
          <a:solidFill>
            <a:srgbClr val="0C1222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EEF2FF"/>
                </a:solidFill>
              </a:defRPr>
            </a:pPr>
            <a:r>
              <a:t>Frontend SPA, 3D / 360° Visualizer &amp; Instant UPI QR Payment Gateway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40680"/>
            <a:ext cx="2194560" cy="640080"/>
          </a:xfrm>
          <a:prstGeom prst="roundRect">
            <a:avLst/>
          </a:prstGeom>
          <a:solidFill>
            <a:srgbClr val="0C122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Weeks 11 - 12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5440680"/>
            <a:ext cx="8321040" cy="640080"/>
          </a:xfrm>
          <a:prstGeom prst="roundRect">
            <a:avLst/>
          </a:prstGeom>
          <a:solidFill>
            <a:srgbClr val="0C122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EEF2FF"/>
                </a:solidFill>
              </a:defRPr>
            </a:pPr>
            <a:r>
              <a:t>Integration Testing, Bug Fixes, System Verification &amp; Final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F2FE"/>
                </a:solidFill>
                <a:latin typeface="Arial"/>
              </a:defRPr>
            </a:pPr>
            <a:r>
              <a:t>SLIDE 5: REFERENCES</a:t>
            </a:r>
          </a:p>
          <a:p>
            <a:pPr>
              <a:defRPr sz="1300">
                <a:solidFill>
                  <a:srgbClr val="6B7FA8"/>
                </a:solidFill>
                <a:latin typeface="Arial"/>
              </a:defRPr>
            </a:pPr>
            <a:r>
              <a:t>Academic papers, technical documentation, and frameworks referenced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777240"/>
          </a:xfrm>
          <a:prstGeom prst="roundRect">
            <a:avLst/>
          </a:prstGeom>
          <a:solidFill>
            <a:srgbClr val="0C1222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1. Machine Learning for Vehicle Performance Estimation</a:t>
            </a:r>
          </a:p>
          <a:p>
            <a:pPr>
              <a:defRPr sz="1100">
                <a:solidFill>
                  <a:srgbClr val="6B7FA8"/>
                </a:solidFill>
              </a:defRPr>
            </a:pPr>
            <a:r>
              <a:t>IEEE Transactions on Vehicular Technology, Ensemble Learning Algorithms (XGBoost &amp; LightGBM) for Automotive Torque and Power Prediction.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698480" cy="777240"/>
          </a:xfrm>
          <a:prstGeom prst="roundRect">
            <a:avLst/>
          </a:prstGeom>
          <a:solidFill>
            <a:srgbClr val="0C1222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2. FastAPI &amp; Asynchronous Python Frameworks</a:t>
            </a:r>
          </a:p>
          <a:p>
            <a:pPr>
              <a:defRPr sz="1100">
                <a:solidFill>
                  <a:srgbClr val="6B7FA8"/>
                </a:solidFill>
              </a:defRPr>
            </a:pPr>
            <a:r>
              <a:t>FastAPI Official Documentation (2024), Asynchronous Server Gateway Interface (ASGI) for High-Throughput RESTful APIs.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98480" cy="777240"/>
          </a:xfrm>
          <a:prstGeom prst="roundRect">
            <a:avLst/>
          </a:prstGeom>
          <a:solidFill>
            <a:srgbClr val="0C1222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3. Relational Database Design for E-Commerce Fitment</a:t>
            </a:r>
          </a:p>
          <a:p>
            <a:pPr>
              <a:defRPr sz="1100">
                <a:solidFill>
                  <a:srgbClr val="6B7FA8"/>
                </a:solidFill>
              </a:defRPr>
            </a:pPr>
            <a:r>
              <a:t>SQLAlchemy 2.0 &amp; PostgreSQL Manual, Normalized Schema Architecture for Automotive Component Compatibility Mapping.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10698480" cy="777240"/>
          </a:xfrm>
          <a:prstGeom prst="roundRect">
            <a:avLst/>
          </a:prstGeom>
          <a:solidFill>
            <a:srgbClr val="0C1222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4. WebXR &amp; Interactive 3D Model Rendering</a:t>
            </a:r>
          </a:p>
          <a:p>
            <a:pPr>
              <a:defRPr sz="1100">
                <a:solidFill>
                  <a:srgbClr val="6B7FA8"/>
                </a:solidFill>
              </a:defRPr>
            </a:pPr>
            <a:r>
              <a:t>Google Model-Viewer &amp; WebGL Standards, Real-Time 3D Object Rendering in Modern Web Browsers.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10698480" cy="777240"/>
          </a:xfrm>
          <a:prstGeom prst="roundRect">
            <a:avLst/>
          </a:prstGeom>
          <a:solidFill>
            <a:srgbClr val="0C1222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5. Unified Payments Interface (UPI) Integration Standards</a:t>
            </a:r>
          </a:p>
          <a:p>
            <a:pPr>
              <a:defRPr sz="1100">
                <a:solidFill>
                  <a:srgbClr val="6B7FA8"/>
                </a:solidFill>
              </a:defRPr>
            </a:pPr>
            <a:r>
              <a:t>National Payments Corporation of India (NPCI) Technical Specification for Dynamic QR Code Generation and VPA Handshaking.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